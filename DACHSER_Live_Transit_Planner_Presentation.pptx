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DACHSER Live Transit Planner</a:t>
            </a:r>
          </a:p>
          <a:p>
            <a:pPr>
              <a:spcAft>
                <a:spcPts val="2400"/>
              </a:spcAft>
              <a:defRPr sz="2200">
                <a:solidFill>
                  <a:srgbClr val="FDC300"/>
                </a:solidFill>
                <a:latin typeface="Arial"/>
              </a:defRPr>
            </a:pPr>
            <a:r>
              <a:t>Autonomous Road Logistics Orchestration &amp; Complete Journey Optimization</a:t>
            </a:r>
          </a:p>
          <a:p>
            <a:pPr>
              <a:defRPr sz="1400">
                <a:solidFill>
                  <a:srgbClr val="C8D7EB"/>
                </a:solidFill>
                <a:latin typeface="Arial"/>
              </a:defRPr>
            </a:pPr>
            <a:r>
              <a:t>Multi-leg network routing · Sonntagsfahrverbot compliance · Live disruption resilience · Audited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4114800" cy="822960"/>
          </a:xfrm>
          <a:prstGeom prst="roundRect">
            <a:avLst/>
          </a:prstGeom>
          <a:solidFill>
            <a:srgbClr val="0C234B"/>
          </a:solidFill>
          <a:ln w="12700">
            <a:solidFill>
              <a:srgbClr val="FD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21208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Built on Real DACHSER European Network Data</a:t>
            </a:r>
          </a:p>
          <a:p>
            <a:pPr>
              <a:defRPr sz="1100">
                <a:solidFill>
                  <a:srgbClr val="FDC300"/>
                </a:solidFill>
                <a:latin typeface="Arial"/>
              </a:defRPr>
            </a:pPr>
            <a:r>
              <a:t>Heilbronn Central Hub + 30 European Branch Relations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The Problem: Fragile Schedules in European Road Freight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42828"/>
                </a:solidFill>
                <a:latin typeface="Arial"/>
              </a:defRPr>
            </a:pPr>
            <a:r>
              <a:t>1. Regulatory Roadblocks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German Sunday Truck Ban (Sonntagsfahrverbot) restricts heavy commercial trucks (&gt;7.5t) from 00:00 to 22:00.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German &amp; state-specific public holidays create cascading 24-48 hour hold-ups.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Missing cutoff by 15 minutes can stall a €500k shipment at a hub for an entire weekend.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42828"/>
                </a:solidFill>
                <a:latin typeface="Arial"/>
              </a:defRPr>
            </a:pPr>
            <a:r>
              <a:t>2. Corridors &amp; Weather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Major European arteries (A8, A81, A6) suffer recurring severe traffic jams and construction delays.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Sudden winter weather (snow, icy fog, gale gusts) halts transit without warning.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Static shortest-distance navigation sends trucks directly into highway gridlocks.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42828"/>
                </a:solidFill>
                <a:latin typeface="Arial"/>
              </a:defRPr>
            </a:pPr>
            <a:r>
              <a:t>3. Fragmented Decisions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Traditional TMS optimizes only for direct distance, ignoring intermediate hub cross-docking.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No combined evaluation of transport cost, driver rest hours, fuel consumption, and cargo risk.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Dispatches rely on manual guesswork without verifiable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The Solution: Complete Journey Outcome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DC300"/>
                </a:solidFill>
              </a:defRPr>
            </a:pPr>
            <a:r>
              <a:t>Holistic Optimization Beyond Distance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Evaluates: Total Transit Time  +  Tariff Cost (€)  +  Fuel &amp; CO₂  +  Legal Waiting Hours  +  Historical Lane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2918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Smart Hub Screening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Dynamic evaluation of intermediate hubs (Heilbronn, Nürnberg, Chemnitz, Langenau).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Filters out detour inefficiencies and capacity-constrained branches.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Unlocks faster bypass routes when direct corridors are congested.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017520"/>
            <a:ext cx="32918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Pareto Ranking Modes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Fastest Arrival: Minimizes total journey elapsed time including rests.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Lowest Cost: Finds cheapest carrier tariff meeting delivery deadline.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Balanced Mode: Ranks by Total Cost + (Transit Hours × €50/hr value of time).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17520"/>
            <a:ext cx="32918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20040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Zero Fake Data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Never displays fabricated live metrics.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Open-Meteo &amp; OSRM are live-keyless.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TomTom live traffic is seamlessly enabled or labelled as realistic SIMULATED mode.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Audited status: LIVE / STALE / NOT_CONFIGURED.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Core Innovation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1. Dynamic Regulatory Engine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Automatic Sunday Hold (Sonntagsfahrverbot) calculation.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Saturday intermediate arrival holds vehicle until Monday 00:00.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German statutory holiday calendar integration with state-level chaining.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2. Disruption Resilience &amp; Studio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Scenario Studio: Inject corridor delays (+180 min) and test rerouting.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Weather Lab: Enter heavy snow/wind alerts and observe ETA impact.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Automatic detour triggers when transfer routes become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3. Real-Time Journey Simulator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Step-by-step timeline: handling, driving legs, and stationary holds.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Live truck interpolation along exact road polylines with scrub slider.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Skip Hold: Instantly fast-forwards through mandatory rest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062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4. Control Room &amp; Audit Ledger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Pre-dispatch manager review gates with required authorization reasons.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Stale quote detection: Invalidate quotes if live conditions change.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Immutable decision ledger tracking approved plans and actual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Proven Operational &amp; Economic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€8,477.50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Total Economic Benefit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Direct savings + risk avoidance across baseline European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02F6C"/>
                </a:solidFill>
                <a:latin typeface="Arial"/>
              </a:defRPr>
            </a:pPr>
            <a:r>
              <a:t>€3,565.00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Direct Tariff Savings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Achieved by selecting optimal carrier lines vs. direct standard trips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1,100 Litres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Fuel Saved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Reduced diesel consumption &amp; direct CO₂ emission abatement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A3682"/>
                </a:solidFill>
                <a:latin typeface="Arial"/>
              </a:defRPr>
            </a:pPr>
            <a:r>
              <a:t>16.25 Hours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Driver Time Saved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975 minutes eliminated by avoiding bottlenecks &amp; holiday cutoffs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16052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297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B42828"/>
                </a:solidFill>
                <a:latin typeface="Arial"/>
              </a:defRPr>
            </a:pPr>
            <a:r>
              <a:t>€3,000.00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Cargo Exposure Avoided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Prevented high-value shipment stalls over weekends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16052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97.1%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On-Time Performance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Measured delivery accuracy (11.4 min MAE across 34 audited runs)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Robust &amp; Modern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Frontend (React 18)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React 18 &amp; TypeScript 5.6 for rock-solid type safety and modular components.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Vite 5.4 build system with instant hot-module replacement.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MapLibre GL 4.7 with OpenStreetMap and CARTO raster basemaps.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Keep-Alive Tab System: Seamless navigation without page or simulation resets.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Lucide React iconography &amp; custom responsive CSS design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Backend (FastAPI)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Python 3.11-3.13 asynchronous FastAPI REST gateway.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Pydantic v2 data models for rigorous schema validation.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tzdata for accurate Europe/Berlin timezone and daylight-savings rules.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HTTPX async client for high-throughput provider queries.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Atomic JSON store ledger ensuring zero data loss on restart.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2F6C"/>
                </a:solidFill>
                <a:latin typeface="Arial"/>
              </a:defRPr>
            </a:pPr>
            <a:r>
              <a:t>Data &amp; Providers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Real DACHSER CSV Dataset: relationen, kalender, disposition, stoerungen.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OSRM Road Geometry: Accurate European motorway polylines and distances.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TomTom Live Traffic: Flow tiles, incident clusters, truck dimensions.</a:t>
            </a:r>
          </a:p>
          <a:p>
            <a:pPr>
              <a:spcAft>
                <a:spcPts val="800"/>
              </a:spcAft>
              <a:defRPr sz="1300">
                <a:solidFill>
                  <a:srgbClr val="141B26"/>
                </a:solidFill>
                <a:latin typeface="Arial"/>
              </a:defRPr>
            </a:pPr>
            <a:r>
              <a:t>•  Open-Meteo: Hourly weather forecasts along route corridors.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DACHSER LIVE TRANSIT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F6C"/>
                </a:solidFill>
                <a:latin typeface="Arial"/>
              </a:defRPr>
            </a:pPr>
            <a:r>
              <a:t>3-Minute Live 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84832"/>
            <a:ext cx="2377440" cy="640080"/>
          </a:xfrm>
          <a:prstGeom prst="round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DC300"/>
                </a:solidFill>
                <a:latin typeface="Arial"/>
              </a:defRPr>
            </a:pPr>
            <a:r>
              <a:t>Step 1: Plan &amp;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574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B26"/>
                </a:solidFill>
                <a:latin typeface="Arial"/>
              </a:defRPr>
            </a:pPr>
            <a:r>
              <a:t>Select Karlsruhe → Dresden. Compare Direct vs via Chemnitz. Observe road polyline, intermediate hub, ETA, fuel &amp; cost trade-offs.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182112"/>
            <a:ext cx="2377440" cy="640080"/>
          </a:xfrm>
          <a:prstGeom prst="roundRect">
            <a:avLst/>
          </a:prstGeom>
          <a:solidFill>
            <a:srgbClr val="1A3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DC300"/>
                </a:solidFill>
                <a:latin typeface="Arial"/>
              </a:defRPr>
            </a:pPr>
            <a:r>
              <a:t>Step 2: Inject Disruption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B26"/>
                </a:solidFill>
                <a:latin typeface="Arial"/>
              </a:defRPr>
            </a:pPr>
            <a:r>
              <a:t>In Scenario Studio, apply 'Heavy Traffic (+180 min)' to direct corridor. Engine recalculates; transfer via hub becomes faster!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279392"/>
            <a:ext cx="2377440" cy="640080"/>
          </a:xfrm>
          <a:prstGeom prst="round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DC300"/>
                </a:solidFill>
                <a:latin typeface="Arial"/>
              </a:defRPr>
            </a:pPr>
            <a:r>
              <a:t>Step 3: Control Room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51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B26"/>
                </a:solidFill>
                <a:latin typeface="Arial"/>
              </a:defRPr>
            </a:pPr>
            <a:r>
              <a:t>Open Control Room. Review change notice showing time/cost variance. Enter manager reason and approve revised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79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376671"/>
            <a:ext cx="2377440" cy="640080"/>
          </a:xfrm>
          <a:prstGeom prst="roundRect">
            <a:avLst/>
          </a:prstGeom>
          <a:solidFill>
            <a:srgbClr val="1A3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DC300"/>
                </a:solidFill>
                <a:latin typeface="Arial"/>
              </a:defRPr>
            </a:pPr>
            <a:r>
              <a:t>Step 4: Real-Time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349239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B26"/>
                </a:solidFill>
                <a:latin typeface="Arial"/>
              </a:defRPr>
            </a:pPr>
            <a:r>
              <a:t>Open Journey Simulator. Watch vehicle progress, handling stages, and use 'Skip Hold' to jump past stationary rest periods.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Future of European Logistics Intelligence</a:t>
            </a:r>
          </a:p>
          <a:p>
            <a:pPr>
              <a:spcAft>
                <a:spcPts val="2800"/>
              </a:spcAft>
              <a:defRPr sz="1800">
                <a:solidFill>
                  <a:srgbClr val="DCE6F5"/>
                </a:solidFill>
                <a:latin typeface="Arial"/>
              </a:defRPr>
            </a:pPr>
            <a:r>
              <a:t>DACHSER Live Transit Planner proves that multi-objective optimization, regulatory compliance, and live disruption resilience can turn logistics volatility into a measurable competitive advantage.</a:t>
            </a:r>
          </a:p>
          <a:p>
            <a:pPr>
              <a:spcAft>
                <a:spcPts val="1000"/>
              </a:spcAft>
              <a:defRPr sz="1500" b="1">
                <a:solidFill>
                  <a:srgbClr val="FDC300"/>
                </a:solidFill>
                <a:latin typeface="Arial"/>
              </a:defRPr>
            </a:pPr>
            <a:r>
              <a:t>✔  Fully transparent data boundaries: No fabricated live data.</a:t>
            </a:r>
          </a:p>
          <a:p>
            <a:pPr>
              <a:spcAft>
                <a:spcPts val="1000"/>
              </a:spcAft>
              <a:defRPr sz="1500" b="1">
                <a:solidFill>
                  <a:srgbClr val="FDC300"/>
                </a:solidFill>
                <a:latin typeface="Arial"/>
              </a:defRPr>
            </a:pPr>
            <a:r>
              <a:t>✔  Immediate ROI: €8,477+ verified economic benefit across European baseline lanes.</a:t>
            </a:r>
          </a:p>
          <a:p>
            <a:pPr>
              <a:spcAft>
                <a:spcPts val="1000"/>
              </a:spcAft>
              <a:defRPr sz="1500" b="1">
                <a:solidFill>
                  <a:srgbClr val="FDC300"/>
                </a:solidFill>
                <a:latin typeface="Arial"/>
              </a:defRPr>
            </a:pPr>
            <a:r>
              <a:t>✔  Ready for production: Modular FastAPI backend &amp; responsive React frontend.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