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DACHSER Live Transit Planner</a:t>
            </a:r>
          </a:p>
          <a:p>
            <a:pPr>
              <a:spcAft>
                <a:spcPts val="2000"/>
              </a:spcAft>
              <a:defRPr sz="2100">
                <a:solidFill>
                  <a:srgbClr val="FDC300"/>
                </a:solidFill>
                <a:latin typeface="Arial"/>
              </a:defRPr>
            </a:pPr>
            <a:r>
              <a:t>Autonomous Road Logistics Orchestration &amp; Route Optimization Platform</a:t>
            </a:r>
          </a:p>
          <a:p>
            <a:pPr>
              <a:defRPr sz="1350">
                <a:solidFill>
                  <a:srgbClr val="C8D7EB"/>
                </a:solidFill>
                <a:latin typeface="Arial"/>
              </a:defRPr>
            </a:pPr>
            <a:r>
              <a:t>Multi-Route Comparison · Eliminating €800k+ Special Trips (2024-2025) · Cost Optimization · Dynamic Reroute · Quantified Time Save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4389120" cy="822960"/>
          </a:xfrm>
          <a:prstGeom prst="roundRect">
            <a:avLst/>
          </a:prstGeom>
          <a:solidFill>
            <a:srgbClr val="0C234B"/>
          </a:solidFill>
          <a:ln w="12700">
            <a:solidFill>
              <a:srgbClr val="FD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21208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Built on Real DACHSER European Network Data</a:t>
            </a:r>
          </a:p>
          <a:p>
            <a:pPr>
              <a:defRPr sz="1100">
                <a:solidFill>
                  <a:srgbClr val="FDC300"/>
                </a:solidFill>
                <a:latin typeface="Arial"/>
              </a:defRPr>
            </a:pPr>
            <a:r>
              <a:t>Heilbronn Central Hub + 30 Branch Relations (19,980 Dispatches)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9C0A3-9F11-8C42-CC30-7CD822C999C1}"/>
              </a:ext>
            </a:extLst>
          </p:cNvPr>
          <p:cNvSpPr txBox="1"/>
          <p:nvPr/>
        </p:nvSpPr>
        <p:spPr>
          <a:xfrm>
            <a:off x="8555603" y="4575816"/>
            <a:ext cx="4174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Team :</a:t>
            </a:r>
            <a:b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Umang Maheshwari</a:t>
            </a:r>
            <a:b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Ishan Kanani</a:t>
            </a:r>
            <a:b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Palash Patel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HISTORICAL LOGISTICS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The Core Problem: €800k+ in Special Trips (2024–2025)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🚨 Over €800,000 Spent on Costly Special Trips (Sonderfahrten) Across 2024–2025</a:t>
            </a:r>
          </a:p>
          <a:p>
            <a:pPr>
              <a:defRPr sz="1200">
                <a:solidFill>
                  <a:srgbClr val="FFEBEB"/>
                </a:solidFill>
              </a:defRPr>
            </a:pPr>
            <a:r>
              <a:t>DACHSER's 2-year operational records (disposition.csv) reveal that missed line trailers, cutoff delays, and unmanaged weekend hold-ups forced emergency premium dispatches costing up to 3x standard tariffs.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32918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834640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C0392B"/>
                </a:solidFill>
                <a:latin typeface="Arial"/>
              </a:defRPr>
            </a:pPr>
            <a:r>
              <a:t>1. Missed Line-Haul Cutoffs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Special trips are triggered when scheduled line-trailers depart without cargo.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A 15-minute handling delay at a branch forces a dedicated €1,500+ emergency special trip.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Lack of forward visibility creates last-minute scramble dispatches on Friday nights.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063240"/>
            <a:ext cx="32918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227832"/>
            <a:ext cx="2834640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C0392B"/>
                </a:solidFill>
                <a:latin typeface="Arial"/>
              </a:defRPr>
            </a:pPr>
            <a:r>
              <a:t>2. Regulatory Bottlenecks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Sonntagsfahrverbot: German Sunday truck ban (00:00–22:00) traps delayed trucks.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Vehicles arriving Saturday evening sit idle for up to 26 hours, risking Monday delivery SLAs.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Emergency special trips are deployed on Monday morning to compensate for lost transit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40"/>
            <a:ext cx="32918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3227832"/>
            <a:ext cx="2834640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C0392B"/>
                </a:solidFill>
                <a:latin typeface="Arial"/>
              </a:defRPr>
            </a:pPr>
            <a:r>
              <a:t>3. Fragmented Routing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Traditional TMS evaluates only static direct distance, ignoring intermediate hub bypasses.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No continuous recalculation when corridor traffic jams (A8, A81, A6) or severe weather hit.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Dispatchers lacked an automated tool to compare alternatives before booking special trips.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STRATEGIC COST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Cost Optimization: Eliminating Emergency Freight Tariffs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66344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Tariff Optimization vs. Special Trips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Standard line-trailer tariff vs. special trip penalty: Line-hauls cost €450–€850, whereas emergency special trips surge to €1,400–€2,800 on identical European lanes.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Our engine plans shipments to guarantee connection to regular line-trailers, directly recovering the €800k+ historical loss.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Load-normalized cost benchmarking from 19,980 real lane-day dispatches.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993392"/>
            <a:ext cx="466344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3 Pareto Optimization Modes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Lowest Cost Mode: Discovers the cheapest line-haul carrier combination that strictly respects the customer delivery deadline.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Fastest Arrival Mode: Eliminates stationary wait times and selects rapid transit corridors.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Balanced Mode: Ranks routes by Total Transport Cost (€) + (Transit Hours × €50/hr), quantifying driver labour value and operational trade-offs.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2011680"/>
          </a:xfrm>
          <a:prstGeom prst="roundRect">
            <a:avLst/>
          </a:prstGeom>
          <a:solidFill>
            <a:srgbClr val="F0F8F5"/>
          </a:solidFill>
          <a:ln w="19050">
            <a:solidFill>
              <a:srgbClr val="177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507992"/>
            <a:ext cx="102412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765E"/>
                </a:solidFill>
                <a:latin typeface="Arial"/>
              </a:defRPr>
            </a:pPr>
            <a:r>
              <a:t>Quantified Cost Breakdown &amp; Fuel Efficiency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Direct Transport Cost Savings: €3,565 saved on baseline operational test batches vs. direct standard runs.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Fuel &amp; Emission Abatement: 1,100 litres of diesel fuel saved, reducing carrier expenditure and operational CO₂ emissions.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High-Value Exposure Avoidance: €3,000+ in cargo damage and theft exposure mitigated by preventing unmonitored weekend parking.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ROUTE INTELLIGENCE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Multi-Route Comparison &amp; Benchmark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1. Side-by-Side Alternatives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Simultaneously calculates and displays up to 4 complete route options.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Every alternative provides full breakdown: Road km, total transit minutes, transport cost (€), fuel (L), and risk score.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Interactive route cards allow instant switching to inspect trade-offs.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Transparently displays 'Advisory Estimate' or 'Confirmed Plan' based on data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2. Direct vs. Transfer Hubs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Compares direct point-to-point against intermediate hub transfers (e.g. via Nürnberg, Chemnitz, Langenau, Heilbronn).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Detour verification: Discards impractical detours and validates transfer hub capacity.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Quantified difference metrics: Shows exact € variance and time delta compared to direct baseline.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Identifies when a 40 km detour is 3 hours faster due to highway bottlenecks.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3. Historical Benchmark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Direct integration with 19,980 historical lane records from disposition.csv.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Compares planned cost against historical load-normalized actuals.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Reliability proxy: Displays historical lane spillover rate and on-time consistency.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Prevents dispatchers from committing to historically fragile corridors.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ACTIVE DISRUPTION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Dynamic Rerouting &amp; Scenario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6634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Live Corridor Rerouting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Continuous corridor monitoring via TomTom Live Traffic and Open-Meteo weather forecasts.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When severe congestion (+180 min) hits a direct motorway, the system immediately calculates transfer bypasses.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Seamless transition: Preserves active leg and reroutes remaining journey without vehicle turnaround.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993392"/>
            <a:ext cx="46634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Scenario Studio &amp; Weather Lab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Scenario Studio: Operators can inject simulated highway closures or traffic jams to stress-test resilience.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Weather Lab: Enter localized snow, ice, or wind alerts to preview ETA impact on the network.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Pre-emptive dispatch: Recalculates before departure, avoiding en-route stranding.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553712"/>
            <a:ext cx="102412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Control Room Audit Gate &amp; Manager Approval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Pre-dispatch review gate: Proposed reroutes require an authorized review quote ID and an operator reason.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Stale quote detection: Automatically invalidates proposals if weather or traffic conditions change during review.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Immutable decision ledger: Every accepted, deferred, or rejected reroute is permanently logged with timestamp and author.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TIME &amp; RELIABILITY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Quantified Time Save &amp; Delivery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79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A3682"/>
                </a:solidFill>
                <a:latin typeface="Arial"/>
              </a:defRPr>
            </a:pPr>
            <a:r>
              <a:t>16.25 Hours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Driver Labour Time Saved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975 minutes eliminated by avoiding motorway jams &amp; cutoff delays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11679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Up to 26 Hours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Sunday Hold Traps Avoided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Prevents shipments from being stranded under Sonntagsfahrverbot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7451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79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97.1%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Audited On-Time Delivery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Delivery reliability verified across 34 operational test shipments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02F6C"/>
                </a:solidFill>
                <a:latin typeface="Arial"/>
              </a:defRPr>
            </a:pPr>
            <a:r>
              <a:t>11.4 Min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Mean Arrival Error (MAE)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High-precision ETA forecasting compared against actual delivery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1605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1,100 L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Diesel Fuel Consumed Less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Reduced idle engine time in traffic and optimized speed profiles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1605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7765E"/>
                </a:solidFill>
                <a:latin typeface="Arial"/>
              </a:defRPr>
            </a:pPr>
            <a:r>
              <a:t>€8,477.50</a:t>
            </a:r>
          </a:p>
          <a:p>
            <a:pPr>
              <a:spcAft>
                <a:spcPts val="400"/>
              </a:spcAft>
              <a:defRPr sz="1300" b="1">
                <a:solidFill>
                  <a:srgbClr val="141B26"/>
                </a:solidFill>
                <a:latin typeface="Arial"/>
              </a:defRPr>
            </a:pPr>
            <a:r>
              <a:t>Total Economic Benefit</a:t>
            </a:r>
          </a:p>
          <a:p>
            <a:pPr>
              <a:defRPr sz="1100">
                <a:solidFill>
                  <a:srgbClr val="646E7D"/>
                </a:solidFill>
                <a:latin typeface="Arial"/>
              </a:defRPr>
            </a:pPr>
            <a:r>
              <a:t>Combined financial value of time, fuel, tariffs, and risk avoidance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C300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2F6C"/>
                </a:solidFill>
                <a:latin typeface="Arial"/>
              </a:defRPr>
            </a:pPr>
            <a:r>
              <a:t>Modern &amp; Robust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371600" cy="5486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Frontend (React 18)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React 18 &amp; TypeScript 5.6 for rock-solid type safety and modular components.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Vite 5.4 build system with instant hot-module replacement.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MapLibre GL 4.7 with OpenStreetMap and CARTO raster basemaps.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High-contrast black hub markers with interactive hover dialogs.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Keep-Alive Tab System: Seamless navigation without page or simulation resets.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Backend (FastAPI)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Python 3.11-3.13 asynchronous FastAPI REST gateway.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Pydantic v2 data models for rigorous schema validation.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tzdata for accurate Europe/Berlin timezone and daylight-savings rules.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HTTPX async client for high-throughput provider queries.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Atomic JSON store ledger ensuring zero data loss on restart.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993392"/>
            <a:ext cx="283464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2F6C"/>
                </a:solidFill>
                <a:latin typeface="Arial"/>
              </a:defRPr>
            </a:pPr>
            <a:r>
              <a:t>Data &amp; Providers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Real DACHSER CSV Dataset: relationen, kalender, disposition, stoerungen.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OSRM Road Geometry: Accurate European motorway polylines and distances.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TomTom Live Traffic: Flow tiles, incident clusters, truck dimensions.</a:t>
            </a:r>
          </a:p>
          <a:p>
            <a:pPr>
              <a:spcAft>
                <a:spcPts val="700"/>
              </a:spcAft>
              <a:defRPr sz="1250">
                <a:solidFill>
                  <a:srgbClr val="141B26"/>
                </a:solidFill>
                <a:latin typeface="Arial"/>
              </a:defRPr>
            </a:pPr>
            <a:r>
              <a:t>•  Open-Meteo: Hourly weather forecasts along route corridors.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1158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Patel, Palash-Dharmeshbhai</cp:lastModifiedBy>
  <cp:revision>4</cp:revision>
  <dcterms:created xsi:type="dcterms:W3CDTF">2013-01-27T09:14:16Z</dcterms:created>
  <dcterms:modified xsi:type="dcterms:W3CDTF">2026-09-20T11:27:26Z</dcterms:modified>
  <cp:category/>
</cp:coreProperties>
</file>